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ОПИСАНИЕ ТРЕБОВАНИЙ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FF9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FFFFFF"/>
                </a:solidFill>
                <a:latin typeface="Arial"/>
              </a:rPr>
              <a:t>Унифицированный
язык моделирования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C6DCF5"/>
                </a:solidFill>
                <a:latin typeface="Arial"/>
              </a:rPr>
              <a:t>Краткий словарь UML и основные диаграммы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685800" y="6305550"/>
            <a:ext cx="857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FFFFFF"/>
                </a:solidFill>
                <a:latin typeface="Arial"/>
              </a:rPr>
              <a:t>Учебная презентация · UML 2.5.1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85925"/>
            <a:ext cx="4762500" cy="1333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005"/>
              </a:lnSpc>
              <a:spcBef>
                <a:spcPts val="0"/>
              </a:spcBef>
              <a:spcAft>
                <a:spcPts val="0"/>
              </a:spcAft>
            </a:pPr>
            <a:r>
              <a:rPr sz="8700" b="1" i="0" u="none">
                <a:solidFill>
                  <a:srgbClr val="FFFFFF"/>
                </a:solidFill>
                <a:latin typeface="Arial"/>
              </a:rPr>
              <a:t>UML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01 / ОСНОВА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UML делает требования наглядными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EDF5FE"/>
          </a:solidFill>
          <a:ln w="9525">
            <a:solidFill>
              <a:srgbClr val="CADB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EDF5FE"/>
          </a:solidFill>
          <a:ln w="9525">
            <a:solidFill>
              <a:srgbClr val="CADB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4761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02B50"/>
                </a:solidFill>
                <a:latin typeface="Arial"/>
              </a:rPr>
              <a:t>Что такое UML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657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7617F"/>
                </a:solidFill>
                <a:latin typeface="Arial"/>
              </a:rPr>
              <a:t>Unified Modeling Language —
унифицированный язык моделирования.
Общий набор обозначений для описания структуры и поведения системы.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02B50"/>
                </a:solidFill>
                <a:latin typeface="Arial"/>
              </a:rPr>
              <a:t>Как помогает аналитику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657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7617F"/>
                </a:solidFill>
                <a:latin typeface="Arial"/>
              </a:rPr>
              <a:t>Уточняет границы системы,
роли и сценарии.
Помогает обсуждать исключения
и проверять согласованность требований.</a:t>
            </a:r>
          </a:p>
        </p:txBody>
      </p:sp>
      <p:cxnSp>
        <p:nvCxnSpPr>
          <p:cNvPr id="13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4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48350"/>
            <a:ext cx="108204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UML дополняет текст требований, но не заменяет критерии приёмки.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02 / КРАТКИЙ СЛОВАРЬ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02B50"/>
                </a:solidFill>
                <a:latin typeface="Arial"/>
              </a:rPr>
              <a:t>Пять базовых понятий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02B50"/>
                </a:solidFill>
                <a:latin typeface="Arial"/>
              </a:rPr>
              <a:t>Модель описывает систему, диаграмма показывает один её аспект.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4750"/>
                <a:gridCol w="710565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Термин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Краткое определение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Модель / Model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Согласованное описание выбранных аспектов системы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Диаграмма / Diagram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Графическое представление части модели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Актор / Actor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Внешняя роль, взаимодействующая с системой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Вариант использования / Use case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Поведение, дающее актору значимый результат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Класс / Class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Описание объектов с общими свойствами и поведением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7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03 / КАРТА UML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14 типов диаграмм: две большие группы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Структура · 7 типов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Классов · объектов · компонентов
Пакетов · развёртывания
Композитной структуры · профилей
Вопрос: «Из чего состоит система?»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Поведение · 7 типов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Вариантов использования · деятельности
Состояний · последовательности
Коммуникации · временная
Обзорная диаграмма взаимодействия
Вопрос: «Как система работает?»</a:t>
            </a:r>
          </a:p>
        </p:txBody>
      </p:sp>
      <p:cxnSp>
        <p:nvCxnSpPr>
          <p:cNvPr id="13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4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Четыре диаграммы взаимодействия входят в группу поведения.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04 / ВАРИАНТЫ ИСПОЛЬЗОВАНИЯ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Use case: кто и зачем использует систему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Актор — внешняя роль.
Вариант использования — цель,
дающая значимый результат.
Рамка показывает границу системы.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Пример: интернет-магазин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Не показывает порядок шагов: сценарий описывают отдельно.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6700" y="3000375"/>
            <a:ext cx="3476625" cy="2333625"/>
          </a:xfrm>
          <a:prstGeom prst="rect">
            <a:avLst/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6249" y="311467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176BC1"/>
                </a:solidFill>
                <a:latin typeface="Arial"/>
              </a:rPr>
              <a:t>Интернет-магазин</a:t>
            </a:r>
          </a:p>
        </p:txBody>
      </p:sp>
      <p:sp>
        <p:nvSpPr>
          <p:cNvPr id="18" name="Oval 17"/>
          <p:cNvSpPr/>
          <p:nvPr/>
        </p:nvSpPr>
        <p:spPr>
          <a:xfrm>
            <a:off x="8591550" y="3810000"/>
            <a:ext cx="2190750" cy="838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Оформить заказ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448050"/>
            <a:ext cx="323850" cy="3238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019925" y="3771900"/>
            <a:ext cx="0" cy="5810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6762750" y="3971925"/>
            <a:ext cx="5143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2" name="Connector 21"/>
          <p:cNvCxnSpPr/>
          <p:nvPr/>
        </p:nvCxnSpPr>
        <p:spPr>
          <a:xfrm flipH="1">
            <a:off x="6772275" y="4352925"/>
            <a:ext cx="247650" cy="33337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7019925" y="4352925"/>
            <a:ext cx="247650" cy="33337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343650" y="4867275"/>
            <a:ext cx="13906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02B50"/>
                </a:solidFill>
                <a:latin typeface="Arial"/>
              </a:rPr>
              <a:t>Покупатель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86625" y="4229100"/>
            <a:ext cx="13049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05 / ДЕЯТЕЛЬНОСТЬ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Activity: как проходит процесс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Действие — отдельный шаг.
Поток управления задаёт порядок.
Решение выбирает ветвь
по условию в квадратных скобках.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Пример: проверка заказа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У ветвей решения должны быть понятные условия.</a:t>
            </a:r>
          </a:p>
        </p:txBody>
      </p:sp>
      <p:sp>
        <p:nvSpPr>
          <p:cNvPr id="16" name="Oval 15"/>
          <p:cNvSpPr/>
          <p:nvPr/>
        </p:nvSpPr>
        <p:spPr>
          <a:xfrm>
            <a:off x="8620125" y="2971800"/>
            <a:ext cx="190500" cy="190500"/>
          </a:xfrm>
          <a:prstGeom prst="ellipse">
            <a:avLst/>
          </a:prstGeom>
          <a:solidFill>
            <a:srgbClr val="102B50"/>
          </a:solidFill>
          <a:ln w="19050">
            <a:solidFill>
              <a:srgbClr val="102B5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715375" y="3162300"/>
            <a:ext cx="0" cy="200025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7724774" y="3362325"/>
            <a:ext cx="1981199" cy="476250"/>
          </a:xfrm>
          <a:prstGeom prst="roundRect">
            <a:avLst>
              <a:gd name="adj" fmla="val 24000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Проверить заказ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15375" y="3838575"/>
            <a:ext cx="0" cy="209549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20" name="Diamond 19"/>
          <p:cNvSpPr/>
          <p:nvPr/>
        </p:nvSpPr>
        <p:spPr>
          <a:xfrm>
            <a:off x="8439150" y="4048124"/>
            <a:ext cx="552450" cy="55245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3550" y="4143375"/>
            <a:ext cx="20002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02B50"/>
                </a:solidFill>
                <a:latin typeface="Arial"/>
              </a:rPr>
              <a:t>Есть товар?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124700" y="4324350"/>
            <a:ext cx="13144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7124700" y="4324350"/>
            <a:ext cx="0" cy="523875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cxnSp>
        <p:nvCxnSpPr>
          <p:cNvPr id="24" name="Connector 23"/>
          <p:cNvCxnSpPr/>
          <p:nvPr/>
        </p:nvCxnSpPr>
        <p:spPr>
          <a:xfrm>
            <a:off x="8715375" y="4600575"/>
            <a:ext cx="0" cy="24765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25" name="TextBox 24"/>
          <p:cNvSpPr txBox="1"/>
          <p:nvPr/>
        </p:nvSpPr>
        <p:spPr>
          <a:xfrm>
            <a:off x="6715125" y="4429125"/>
            <a:ext cx="666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45110"/>
                </a:solidFill>
                <a:latin typeface="Arial"/>
              </a:rPr>
              <a:t>[нет]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9200" y="4581525"/>
            <a:ext cx="66675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 u="none">
                <a:solidFill>
                  <a:srgbClr val="C45110"/>
                </a:solidFill>
                <a:latin typeface="Arial"/>
              </a:rPr>
              <a:t>[да]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5550" y="4848225"/>
            <a:ext cx="1638300" cy="457200"/>
          </a:xfrm>
          <a:prstGeom prst="roundRect">
            <a:avLst>
              <a:gd name="adj" fmla="val 25000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Отказать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3399" y="4848225"/>
            <a:ext cx="2743200" cy="457200"/>
          </a:xfrm>
          <a:prstGeom prst="roundRect">
            <a:avLst>
              <a:gd name="adj" fmla="val 25000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Подтвердить заказ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06 / ПОСЛЕДОВАТЕЛЬНОСТЬ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Sequence: кто кому отправляет сообщения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Линия жизни — участник
взаимодействия.
Сообщение — обмен между участниками.
Время направлено сверху вниз.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Пример: оформление заказа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Вертикальное расстояние обычно не задаёт длительность.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43650" y="3000375"/>
            <a:ext cx="1409700" cy="400050"/>
          </a:xfrm>
          <a:prstGeom prst="rect">
            <a:avLst/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Покупатель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8500" y="3400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7048500" y="3552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7048500" y="3705224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048500" y="3857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048500" y="4010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048500" y="4162424"/>
            <a:ext cx="0" cy="85726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7048500" y="4314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7048500" y="4467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7048500" y="4619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048500" y="4772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048500" y="4924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7048500" y="5076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7048500" y="5229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7048500" y="5381625"/>
            <a:ext cx="0" cy="95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31" name="Rectangle 30"/>
          <p:cNvSpPr/>
          <p:nvPr/>
        </p:nvSpPr>
        <p:spPr>
          <a:xfrm>
            <a:off x="8191500" y="3000375"/>
            <a:ext cx="1409700" cy="400050"/>
          </a:xfrm>
          <a:prstGeom prst="rect">
            <a:avLst/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Магазин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96350" y="3400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8896350" y="3552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8896350" y="3705224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8896350" y="3857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8896350" y="4010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8896350" y="4162424"/>
            <a:ext cx="0" cy="85726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8896350" y="4314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8896350" y="4467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8896350" y="4619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8896350" y="4772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8896350" y="4924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8896350" y="5076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8896350" y="5229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8896350" y="5381625"/>
            <a:ext cx="0" cy="95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46" name="Rectangle 45"/>
          <p:cNvSpPr/>
          <p:nvPr/>
        </p:nvSpPr>
        <p:spPr>
          <a:xfrm>
            <a:off x="10039350" y="3000375"/>
            <a:ext cx="1409700" cy="400050"/>
          </a:xfrm>
          <a:prstGeom prst="rect">
            <a:avLst/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Оплата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44200" y="3400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10744200" y="3552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10744200" y="3705224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0744200" y="3857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744200" y="4010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0744200" y="4162424"/>
            <a:ext cx="0" cy="85726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744200" y="4314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10744200" y="4467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10744200" y="46196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6" name="Connector 55"/>
          <p:cNvCxnSpPr/>
          <p:nvPr/>
        </p:nvCxnSpPr>
        <p:spPr>
          <a:xfrm>
            <a:off x="10744200" y="47720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0744200" y="49244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10744200" y="50768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59" name="Connector 58"/>
          <p:cNvCxnSpPr/>
          <p:nvPr/>
        </p:nvCxnSpPr>
        <p:spPr>
          <a:xfrm>
            <a:off x="10744200" y="5229225"/>
            <a:ext cx="0" cy="857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60" name="Connector 59"/>
          <p:cNvCxnSpPr/>
          <p:nvPr/>
        </p:nvCxnSpPr>
        <p:spPr>
          <a:xfrm>
            <a:off x="10744200" y="5381625"/>
            <a:ext cx="0" cy="95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7210425" y="3562350"/>
            <a:ext cx="16668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02B50"/>
                </a:solidFill>
                <a:latin typeface="Arial"/>
              </a:rPr>
              <a:t>оформить()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048500" y="3905249"/>
            <a:ext cx="1847850" cy="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63" name="TextBox 62"/>
          <p:cNvSpPr txBox="1"/>
          <p:nvPr/>
        </p:nvSpPr>
        <p:spPr>
          <a:xfrm>
            <a:off x="9048750" y="4057650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02B50"/>
                </a:solidFill>
                <a:latin typeface="Arial"/>
              </a:rPr>
              <a:t>списать()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896350" y="4400550"/>
            <a:ext cx="1847850" cy="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65" name="TextBox 64"/>
          <p:cNvSpPr txBox="1"/>
          <p:nvPr/>
        </p:nvSpPr>
        <p:spPr>
          <a:xfrm>
            <a:off x="9048750" y="4543425"/>
            <a:ext cx="1571625" cy="257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02B50"/>
                </a:solidFill>
                <a:latin typeface="Arial"/>
              </a:rPr>
              <a:t>результат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106584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67" name="Connector 66"/>
          <p:cNvCxnSpPr/>
          <p:nvPr/>
        </p:nvCxnSpPr>
        <p:spPr>
          <a:xfrm flipH="1">
            <a:off x="105060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68" name="Connector 67"/>
          <p:cNvCxnSpPr/>
          <p:nvPr/>
        </p:nvCxnSpPr>
        <p:spPr>
          <a:xfrm flipH="1">
            <a:off x="103536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69" name="Connector 68"/>
          <p:cNvCxnSpPr/>
          <p:nvPr/>
        </p:nvCxnSpPr>
        <p:spPr>
          <a:xfrm flipH="1">
            <a:off x="102012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0" name="Connector 69"/>
          <p:cNvCxnSpPr/>
          <p:nvPr/>
        </p:nvCxnSpPr>
        <p:spPr>
          <a:xfrm flipH="1">
            <a:off x="100488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1" name="Connector 70"/>
          <p:cNvCxnSpPr/>
          <p:nvPr/>
        </p:nvCxnSpPr>
        <p:spPr>
          <a:xfrm flipH="1">
            <a:off x="98964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2" name="Connector 71"/>
          <p:cNvCxnSpPr/>
          <p:nvPr/>
        </p:nvCxnSpPr>
        <p:spPr>
          <a:xfrm flipH="1">
            <a:off x="97440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3" name="Connector 72"/>
          <p:cNvCxnSpPr/>
          <p:nvPr/>
        </p:nvCxnSpPr>
        <p:spPr>
          <a:xfrm flipH="1">
            <a:off x="95916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4" name="Connector 73"/>
          <p:cNvCxnSpPr/>
          <p:nvPr/>
        </p:nvCxnSpPr>
        <p:spPr>
          <a:xfrm flipH="1">
            <a:off x="94392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5" name="Connector 74"/>
          <p:cNvCxnSpPr/>
          <p:nvPr/>
        </p:nvCxnSpPr>
        <p:spPr>
          <a:xfrm flipH="1">
            <a:off x="92868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6" name="Connector 75"/>
          <p:cNvCxnSpPr/>
          <p:nvPr/>
        </p:nvCxnSpPr>
        <p:spPr>
          <a:xfrm flipH="1">
            <a:off x="91344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7" name="Connector 76"/>
          <p:cNvCxnSpPr/>
          <p:nvPr/>
        </p:nvCxnSpPr>
        <p:spPr>
          <a:xfrm flipH="1">
            <a:off x="8982075" y="4886325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8" name="Connector 77"/>
          <p:cNvCxnSpPr/>
          <p:nvPr/>
        </p:nvCxnSpPr>
        <p:spPr>
          <a:xfrm flipH="1">
            <a:off x="8896350" y="4886325"/>
            <a:ext cx="190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79" name="Connector 78"/>
          <p:cNvCxnSpPr/>
          <p:nvPr/>
        </p:nvCxnSpPr>
        <p:spPr>
          <a:xfrm flipH="1" flipV="1">
            <a:off x="8896350" y="4886325"/>
            <a:ext cx="76200" cy="476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0" name="Connector 79"/>
          <p:cNvCxnSpPr/>
          <p:nvPr/>
        </p:nvCxnSpPr>
        <p:spPr>
          <a:xfrm flipH="1">
            <a:off x="8896350" y="4838700"/>
            <a:ext cx="76200" cy="476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7153275" y="5000625"/>
            <a:ext cx="1743075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02B50"/>
                </a:solidFill>
                <a:latin typeface="Arial"/>
              </a:rPr>
              <a:t>подтверждение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88106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3" name="Connector 82"/>
          <p:cNvCxnSpPr/>
          <p:nvPr/>
        </p:nvCxnSpPr>
        <p:spPr>
          <a:xfrm flipH="1">
            <a:off x="86582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4" name="Connector 83"/>
          <p:cNvCxnSpPr/>
          <p:nvPr/>
        </p:nvCxnSpPr>
        <p:spPr>
          <a:xfrm flipH="1">
            <a:off x="85058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5" name="Connector 84"/>
          <p:cNvCxnSpPr/>
          <p:nvPr/>
        </p:nvCxnSpPr>
        <p:spPr>
          <a:xfrm flipH="1">
            <a:off x="8353424" y="5353050"/>
            <a:ext cx="85726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6" name="Connector 85"/>
          <p:cNvCxnSpPr/>
          <p:nvPr/>
        </p:nvCxnSpPr>
        <p:spPr>
          <a:xfrm flipH="1">
            <a:off x="82010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7" name="Connector 86"/>
          <p:cNvCxnSpPr/>
          <p:nvPr/>
        </p:nvCxnSpPr>
        <p:spPr>
          <a:xfrm flipH="1">
            <a:off x="80486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8" name="Connector 87"/>
          <p:cNvCxnSpPr/>
          <p:nvPr/>
        </p:nvCxnSpPr>
        <p:spPr>
          <a:xfrm flipH="1">
            <a:off x="7896224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89" name="Connector 88"/>
          <p:cNvCxnSpPr/>
          <p:nvPr/>
        </p:nvCxnSpPr>
        <p:spPr>
          <a:xfrm flipH="1">
            <a:off x="77438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0" name="Connector 89"/>
          <p:cNvCxnSpPr/>
          <p:nvPr/>
        </p:nvCxnSpPr>
        <p:spPr>
          <a:xfrm flipH="1">
            <a:off x="75914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1" name="Connector 90"/>
          <p:cNvCxnSpPr/>
          <p:nvPr/>
        </p:nvCxnSpPr>
        <p:spPr>
          <a:xfrm flipH="1">
            <a:off x="7439024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2" name="Connector 91"/>
          <p:cNvCxnSpPr/>
          <p:nvPr/>
        </p:nvCxnSpPr>
        <p:spPr>
          <a:xfrm flipH="1">
            <a:off x="72866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3" name="Connector 92"/>
          <p:cNvCxnSpPr/>
          <p:nvPr/>
        </p:nvCxnSpPr>
        <p:spPr>
          <a:xfrm flipH="1">
            <a:off x="7134225" y="5353050"/>
            <a:ext cx="85725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4" name="Connector 93"/>
          <p:cNvCxnSpPr/>
          <p:nvPr/>
        </p:nvCxnSpPr>
        <p:spPr>
          <a:xfrm flipH="1">
            <a:off x="7048500" y="5353050"/>
            <a:ext cx="190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5" name="Connector 94"/>
          <p:cNvCxnSpPr/>
          <p:nvPr/>
        </p:nvCxnSpPr>
        <p:spPr>
          <a:xfrm flipH="1" flipV="1">
            <a:off x="7048500" y="5353050"/>
            <a:ext cx="76200" cy="476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cxnSp>
        <p:nvCxnSpPr>
          <p:cNvPr id="96" name="Connector 95"/>
          <p:cNvCxnSpPr/>
          <p:nvPr/>
        </p:nvCxnSpPr>
        <p:spPr>
          <a:xfrm flipH="1">
            <a:off x="7048500" y="5305425"/>
            <a:ext cx="76200" cy="47625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07 / КЛАССЫ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Class: какие данные связаны между собой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Атрибут — свойство класса.
Операция — доступное поведение.
Ассоциация — связь классов.
Кратность — допустимое число связей.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Пример: предметная область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На этапе анализа классы могут описывать понятия, а не код.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86500" y="3190875"/>
            <a:ext cx="2000250" cy="2095499"/>
          </a:xfrm>
          <a:prstGeom prst="rect">
            <a:avLst/>
          </a:prstGeom>
          <a:solidFill>
            <a:srgbClr val="FFFFFF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1750" y="3324225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02B50"/>
                </a:solidFill>
                <a:latin typeface="Arial"/>
              </a:rPr>
              <a:t>Покупатель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86500" y="3724275"/>
            <a:ext cx="20002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419850" y="3876674"/>
            <a:ext cx="1733550" cy="619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02B50"/>
                </a:solidFill>
                <a:latin typeface="Arial"/>
              </a:rPr>
              <a:t>имя: String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86500" y="4629150"/>
            <a:ext cx="20002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419850" y="4819650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02B50"/>
                </a:solidFill>
                <a:latin typeface="Arial"/>
              </a:rPr>
              <a:t>оформитьЗаказ()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48800" y="3190875"/>
            <a:ext cx="2000250" cy="2095499"/>
          </a:xfrm>
          <a:prstGeom prst="rect">
            <a:avLst/>
          </a:prstGeom>
          <a:solidFill>
            <a:srgbClr val="FFFFFF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4050" y="3324225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02B50"/>
                </a:solidFill>
                <a:latin typeface="Arial"/>
              </a:rPr>
              <a:t>Заказ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8800" y="3724275"/>
            <a:ext cx="20002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582150" y="3876674"/>
            <a:ext cx="1733550" cy="619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02B50"/>
                </a:solidFill>
                <a:latin typeface="Arial"/>
              </a:rPr>
              <a:t>номер: String
сумма: Decimal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48800" y="4629150"/>
            <a:ext cx="20002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9582150" y="4819650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66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102B50"/>
                </a:solidFill>
                <a:latin typeface="Arial"/>
              </a:rPr>
              <a:t>рассчитатьИтог()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86750" y="4190999"/>
            <a:ext cx="1162050" cy="0"/>
          </a:xfrm>
          <a:prstGeom prst="line">
            <a:avLst/>
          </a:prstGeom>
          <a:ln w="19050">
            <a:solidFill>
              <a:srgbClr val="176BC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334375" y="3895725"/>
            <a:ext cx="333375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4511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2550" y="3895725"/>
            <a:ext cx="47625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C45110"/>
                </a:solidFill>
                <a:latin typeface="Arial"/>
              </a:rPr>
              <a:t>0..*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5800" y="4391025"/>
            <a:ext cx="1123950" cy="2381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u="none">
                <a:solidFill>
                  <a:srgbClr val="176BC1"/>
                </a:solidFill>
                <a:latin typeface="Arial"/>
              </a:rPr>
              <a:t>оформляет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08 / СОСТОЯНИЯ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02B50"/>
                </a:solidFill>
                <a:latin typeface="Arial"/>
              </a:rPr>
              <a:t>State machine: как меняется один объект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47617F"/>
                </a:solidFill>
                <a:latin typeface="Arial"/>
              </a:rPr>
              <a:t>Состояние — ситуация
в жизни объекта.
Переход — смена состояния.
Событие запускает переход.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02B50"/>
                </a:solidFill>
                <a:latin typeface="Arial"/>
              </a:rPr>
              <a:t>Пример: состояния заказа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Состояние — не действие: «Оплачен», а не «Оплатить».</a:t>
            </a:r>
          </a:p>
        </p:txBody>
      </p:sp>
      <p:sp>
        <p:nvSpPr>
          <p:cNvPr id="16" name="Oval 15"/>
          <p:cNvSpPr/>
          <p:nvPr/>
        </p:nvSpPr>
        <p:spPr>
          <a:xfrm>
            <a:off x="6305550" y="3943350"/>
            <a:ext cx="190500" cy="190500"/>
          </a:xfrm>
          <a:prstGeom prst="ellipse">
            <a:avLst/>
          </a:prstGeom>
          <a:solidFill>
            <a:srgbClr val="102B50"/>
          </a:solidFill>
          <a:ln w="19050">
            <a:solidFill>
              <a:srgbClr val="102B5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496050" y="4038600"/>
            <a:ext cx="342900" cy="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6838950" y="3733799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Создан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44075" y="3733799"/>
            <a:ext cx="1714500" cy="609600"/>
          </a:xfrm>
          <a:prstGeom prst="roundRect">
            <a:avLst>
              <a:gd name="adj" fmla="val 18750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Оплачен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53450" y="4038600"/>
            <a:ext cx="1190625" cy="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21" name="TextBox 20"/>
          <p:cNvSpPr txBox="1"/>
          <p:nvPr/>
        </p:nvSpPr>
        <p:spPr>
          <a:xfrm>
            <a:off x="8791575" y="3667125"/>
            <a:ext cx="85725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76BC1"/>
                </a:solidFill>
                <a:latin typeface="Arial"/>
              </a:rPr>
              <a:t>оплата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38950" y="4895850"/>
            <a:ext cx="1714500" cy="495299"/>
          </a:xfrm>
          <a:prstGeom prst="roundRect">
            <a:avLst>
              <a:gd name="adj" fmla="val 23076"/>
            </a:avLst>
          </a:prstGeom>
          <a:solidFill>
            <a:srgbClr val="EDF5FE"/>
          </a:solidFill>
          <a:ln w="19050">
            <a:solidFill>
              <a:srgbClr val="176BC1"/>
            </a:solidFill>
          </a:ln>
        </p:spPr>
        <p:txBody>
          <a:bodyPr rtlCol="0" anchor="ctr" wrap="square" tIns="76200" rIns="76200" bIns="76200" lIns="7620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02B50"/>
                </a:solidFill>
                <a:latin typeface="Arial"/>
              </a:rPr>
              <a:t>Отменён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96199" y="4343400"/>
            <a:ext cx="0" cy="552450"/>
          </a:xfrm>
          <a:prstGeom prst="line">
            <a:avLst/>
          </a:prstGeom>
          <a:ln w="19050">
            <a:solidFill>
              <a:srgbClr val="176BC1"/>
            </a:solidFill>
            <a:tailEnd type="triangle"/>
          </a:ln>
        </p:spPr>
      </p:cxnSp>
      <p:sp>
        <p:nvSpPr>
          <p:cNvPr id="24" name="TextBox 23"/>
          <p:cNvSpPr txBox="1"/>
          <p:nvPr/>
        </p:nvSpPr>
        <p:spPr>
          <a:xfrm>
            <a:off x="7839074" y="4514850"/>
            <a:ext cx="1143000" cy="2571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55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176BC1"/>
                </a:solidFill>
                <a:latin typeface="Arial"/>
              </a:rPr>
              <a:t>отмена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09 / СВЯЗИ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02B50"/>
                </a:solidFill>
                <a:latin typeface="Arial"/>
              </a:rPr>
              <a:t>Краткий словарь отношений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02B50"/>
                </a:solidFill>
                <a:latin typeface="Arial"/>
              </a:rPr>
              <a:t>Смысл связи определяется нотацией, а не цветом линии.</a:t>
            </a:r>
          </a:p>
        </p:txBody>
      </p:sp>
      <p:graphicFrame>
        <p:nvGraphicFramePr>
          <p:cNvPr id="6" name="Evidence table"/>
          <p:cNvGraphicFramePr>
            <a:graphicFrameLocks noGrp="1"/>
          </p:cNvGraphicFramePr>
          <p:nvPr/>
        </p:nvGraphicFramePr>
        <p:xfrm>
          <a:off x="685800" y="2667000"/>
          <a:ext cx="10820400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500"/>
                <a:gridCol w="79629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Отношение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6B6862"/>
                          </a:solidFill>
                          <a:latin typeface="Arial"/>
                        </a:rPr>
                        <a:t>Что означает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4288">
                      <a:solidFill>
                        <a:srgbClr val="2C2C2B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Ассоциация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Структурная связь; у концов можно указать кратности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Обобщение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Специализация: полый треугольник смотрит к общему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Зависимость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Клиент зависит от поставщика; пунктирная стрелка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Композиция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Сильное владение частью; закрашенный ромб у целого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C2C2B"/>
                          </a:solidFill>
                          <a:latin typeface="Arial"/>
                        </a:rPr>
                        <a:t>Реализация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C2C2B"/>
                          </a:solidFill>
                          <a:latin typeface="Arial"/>
                        </a:rPr>
                        <a:t>Выполнение контракта; пунктир с полым треугольником</a:t>
                      </a:r>
                    </a:p>
                  </a:txBody>
                  <a:tcPr marT="95250" marR="57150" marB="95250" marL="57150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7144">
                      <a:solidFill>
                        <a:srgbClr val="E6E5E3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7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10 / ПРИМЕНЕНИЕ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02B50"/>
                </a:solidFill>
                <a:latin typeface="Arial"/>
              </a:rPr>
              <a:t>От требования — к проверяемой модели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38250" y="3448050"/>
            <a:ext cx="97155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6" name="Process step 1 marker"/>
          <p:cNvSpPr/>
          <p:nvPr/>
        </p:nvSpPr>
        <p:spPr>
          <a:xfrm>
            <a:off x="1657350" y="3200400"/>
            <a:ext cx="495299" cy="495299"/>
          </a:xfrm>
          <a:prstGeom prst="ellipse">
            <a:avLst/>
          </a:prstGeom>
          <a:solidFill>
            <a:srgbClr val="176BC1"/>
          </a:solidFill>
          <a:ln w="19050">
            <a:solidFill>
              <a:srgbClr val="176BC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7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905249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02B50"/>
                </a:solidFill>
                <a:latin typeface="Arial"/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3053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Определить роли
и границы системы</a:t>
            </a:r>
          </a:p>
        </p:txBody>
      </p:sp>
      <p:sp>
        <p:nvSpPr>
          <p:cNvPr id="10" name="Process step 2 marker"/>
          <p:cNvSpPr/>
          <p:nvPr/>
        </p:nvSpPr>
        <p:spPr>
          <a:xfrm>
            <a:off x="4451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B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1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8375" y="3905249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02B50"/>
                </a:solidFill>
                <a:latin typeface="Arial"/>
              </a:rPr>
              <a:t>Сценарий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8375" y="43053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Описать основной
и альтернативные пути</a:t>
            </a:r>
          </a:p>
        </p:txBody>
      </p:sp>
      <p:sp>
        <p:nvSpPr>
          <p:cNvPr id="14" name="Process step 3 marker"/>
          <p:cNvSpPr/>
          <p:nvPr/>
        </p:nvSpPr>
        <p:spPr>
          <a:xfrm>
            <a:off x="7245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B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5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76BC1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2375" y="3905249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02B50"/>
                </a:solidFill>
                <a:latin typeface="Arial"/>
              </a:rPr>
              <a:t>Диаграмма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375" y="43053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Выбрать вид
под конкретный вопрос</a:t>
            </a:r>
          </a:p>
        </p:txBody>
      </p:sp>
      <p:sp>
        <p:nvSpPr>
          <p:cNvPr id="18" name="Process step 4 marker"/>
          <p:cNvSpPr/>
          <p:nvPr/>
        </p:nvSpPr>
        <p:spPr>
          <a:xfrm>
            <a:off x="10039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BE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176BC1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6375" y="3905249"/>
            <a:ext cx="23812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02B50"/>
                </a:solidFill>
                <a:latin typeface="Arial"/>
              </a:rPr>
              <a:t>Проверка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6375" y="43053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Сверить модель,
текст и критерии приёмки</a:t>
            </a:r>
          </a:p>
        </p:txBody>
      </p:sp>
      <p:cxnSp>
        <p:nvCxnSpPr>
          <p:cNvPr id="22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23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619750"/>
            <a:ext cx="10820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97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C45110"/>
                </a:solidFill>
                <a:latin typeface="Arial"/>
              </a:rPr>
              <a:t>Пример критерия: при отсутствии товара заказ не подтверждается.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11 / ИТОГ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02B50"/>
                </a:solidFill>
                <a:latin typeface="Arial"/>
              </a:rPr>
              <a:t>Что важно запомнить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176BC1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102B50"/>
                </a:solidFill>
                <a:latin typeface="Arial"/>
              </a:rPr>
              <a:t>UML — язык моделирования, а не метод разработки.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176BC1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02B50"/>
                </a:solidFill>
                <a:latin typeface="Arial"/>
              </a:rPr>
              <a:t>Для требований начните с ролей, целей и сценариев.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176BC1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02B50"/>
                </a:solidFill>
                <a:latin typeface="Arial"/>
              </a:rPr>
              <a:t>Выбирайте диаграмму по вопросу, а не ради полноты.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176BC1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02B50"/>
                </a:solidFill>
                <a:latin typeface="Arial"/>
              </a:rPr>
              <a:t>Уточняйте модель текстом и измеримыми критериями приёмки.</a:t>
            </a:r>
          </a:p>
        </p:txBody>
      </p:sp>
      <p:cxnSp>
        <p:nvCxnSpPr>
          <p:cNvPr id="16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7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UML · Краткий словарь и диаграммы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47617F"/>
                </a:solidFill>
                <a:latin typeface="Arial"/>
              </a:rPr>
              <a:t>12 / ИСТОЧНИКИ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176B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102B50"/>
                </a:solidFill>
                <a:latin typeface="Arial"/>
              </a:rPr>
              <a:t>Стандарт и материалы для продолжения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85800" y="24384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76BC1"/>
                </a:solidFill>
                <a:latin typeface="Arial"/>
              </a:rPr>
              <a:t>OMG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24003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102B50"/>
                </a:solidFill>
                <a:latin typeface="Arial"/>
              </a:rPr>
              <a:t>UML 2.5.1 · страница стандарта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40030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omg.org/spec/UML/2.5.1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97180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9" name="Section label"/>
          <p:cNvSpPr txBox="1"/>
          <p:nvPr/>
        </p:nvSpPr>
        <p:spPr>
          <a:xfrm>
            <a:off x="685800" y="321945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76BC1"/>
                </a:solidFill>
                <a:latin typeface="Arial"/>
              </a:rPr>
              <a:t>СПЕЦИФИКАЦИЯ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1813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102B50"/>
                </a:solidFill>
                <a:latin typeface="Arial"/>
              </a:rPr>
              <a:t>UML 2.5.1 · полный документ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181350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omg.org/spec/UML/2.5.1/PDF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7528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85800" y="4000500"/>
            <a:ext cx="1714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176BC1"/>
                </a:solidFill>
                <a:latin typeface="Arial"/>
              </a:rPr>
              <a:t>ПРИМЕРЫ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962399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 u="none">
                <a:solidFill>
                  <a:srgbClr val="102B50"/>
                </a:solidFill>
                <a:latin typeface="Arial"/>
              </a:rPr>
              <a:t>Заказ в интернет-магазине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962399"/>
            <a:ext cx="3962399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79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47617F"/>
                </a:solidFill>
                <a:latin typeface="Arial"/>
              </a:rPr>
              <a:t>Учебные упрощённые модели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453390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cxnSp>
        <p:nvCxnSpPr>
          <p:cNvPr id="17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CADBED"/>
            </a:solidFill>
          </a:ln>
        </p:spPr>
      </p:cxnSp>
      <p:sp>
        <p:nvSpPr>
          <p:cNvPr id="18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47617F"/>
                </a:solidFill>
                <a:latin typeface="Arial"/>
              </a:rPr>
              <a:t>Нотация: OMG UML 2.5.1 · примеры подготовлены для этой презентации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0900" y="6305550"/>
            <a:ext cx="495299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47617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requirements</dc:title>
  <dc:subject/>
  <dc:creator>Notion AI</dc:creator>
  <cp:keywords/>
  <dc:description>generated using python-pptx</dc:description>
  <cp:lastModifiedBy>Notion AI</cp:lastModifiedBy>
  <cp:revision>1</cp:revision>
  <dcterms:created xsi:type="dcterms:W3CDTF">2026-10-25T17:35:57Z</dcterms:created>
  <dcterms:modified xsi:type="dcterms:W3CDTF">2026-10-25T17:35:57Z</dcterms:modified>
  <cp:category/>
</cp:coreProperties>
</file>